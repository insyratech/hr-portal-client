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36FC476-6782-4A7F-9624-08B9DE5F961E}">
  <a:tblStyle styleId="{E36FC476-6782-4A7F-9624-08B9DE5F961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651"/>
  </p:normalViewPr>
  <p:slideViewPr>
    <p:cSldViewPr snapToGrid="0">
      <p:cViewPr varScale="1">
        <p:scale>
          <a:sx n="110" d="100"/>
          <a:sy n="110" d="100"/>
        </p:scale>
        <p:origin x="536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" name="Google Shape;5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" name="Google Shape;7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f77961f7b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f77961f7bc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g3f77961f7bc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358815" y="235631"/>
            <a:ext cx="5732430" cy="332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200"/>
              <a:buFont typeface="Calibri"/>
              <a:buNone/>
            </a:pPr>
            <a:r>
              <a:rPr lang="en-US" sz="12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SLIDE 1  /  PROGRESS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358818" y="556788"/>
            <a:ext cx="11469609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Calibri"/>
              <a:buNone/>
            </a:pPr>
            <a:r>
              <a:rPr lang="en-US" sz="28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WEEKLY WORK UPDATE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345955" y="1260485"/>
            <a:ext cx="11517453" cy="7326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19;p3"/>
          <p:cNvSpPr/>
          <p:nvPr/>
        </p:nvSpPr>
        <p:spPr>
          <a:xfrm>
            <a:off x="363569" y="1290538"/>
            <a:ext cx="2854475" cy="283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900"/>
              <a:buFont typeface="Calibri"/>
              <a:buNone/>
            </a:pPr>
            <a:r>
              <a:rPr lang="en-US" sz="9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PROJECT / WORKSTREAM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358813" y="1583146"/>
            <a:ext cx="2866821" cy="320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________________________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3202490" y="1251822"/>
            <a:ext cx="2909014" cy="311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900"/>
              <a:buFont typeface="Calibri"/>
              <a:buNone/>
            </a:pPr>
            <a:r>
              <a:rPr lang="en-US" sz="9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EMPLOYEE NAME</a:t>
            </a:r>
            <a:r>
              <a:rPr lang="en-US" sz="900" b="1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 &amp; </a:t>
            </a:r>
            <a:r>
              <a:rPr lang="en-US" sz="9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ID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3222681" y="1577101"/>
            <a:ext cx="2880453" cy="326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________________________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Google Shape;23;p3"/>
          <p:cNvCxnSpPr>
            <a:cxnSpLocks/>
          </p:cNvCxnSpPr>
          <p:nvPr/>
        </p:nvCxnSpPr>
        <p:spPr>
          <a:xfrm>
            <a:off x="3222680" y="1260485"/>
            <a:ext cx="0" cy="715853"/>
          </a:xfrm>
          <a:prstGeom prst="straightConnector1">
            <a:avLst/>
          </a:prstGeom>
          <a:noFill/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3"/>
          <p:cNvSpPr/>
          <p:nvPr/>
        </p:nvSpPr>
        <p:spPr>
          <a:xfrm>
            <a:off x="6080760" y="1271267"/>
            <a:ext cx="2902828" cy="288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900"/>
              <a:buFont typeface="Calibri"/>
              <a:buNone/>
            </a:pPr>
            <a:r>
              <a:rPr lang="en-US" sz="9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TEAM </a:t>
            </a:r>
            <a:r>
              <a:rPr lang="en-US" sz="900" b="1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 LEAD &amp; MEMBERS (Initials)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6103135" y="1560258"/>
            <a:ext cx="2878136" cy="323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________________________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" name="Google Shape;26;p3"/>
          <p:cNvCxnSpPr>
            <a:cxnSpLocks/>
            <a:stCxn id="18" idx="0"/>
          </p:cNvCxnSpPr>
          <p:nvPr/>
        </p:nvCxnSpPr>
        <p:spPr>
          <a:xfrm flipH="1">
            <a:off x="6103910" y="1260485"/>
            <a:ext cx="772" cy="715853"/>
          </a:xfrm>
          <a:prstGeom prst="straightConnector1">
            <a:avLst/>
          </a:prstGeom>
          <a:noFill/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" name="Google Shape;27;p3"/>
          <p:cNvSpPr/>
          <p:nvPr/>
        </p:nvSpPr>
        <p:spPr>
          <a:xfrm>
            <a:off x="8980634" y="1290539"/>
            <a:ext cx="2878137" cy="283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900"/>
              <a:buFont typeface="Calibri"/>
              <a:buNone/>
            </a:pPr>
            <a:r>
              <a:rPr lang="en-US" sz="9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WEEK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9005196" y="1583146"/>
            <a:ext cx="2853576" cy="320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YYYY/MM/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DD – DD 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" name="Google Shape;29;p3"/>
          <p:cNvCxnSpPr>
            <a:cxnSpLocks/>
          </p:cNvCxnSpPr>
          <p:nvPr/>
        </p:nvCxnSpPr>
        <p:spPr>
          <a:xfrm>
            <a:off x="8985137" y="1290538"/>
            <a:ext cx="0" cy="685800"/>
          </a:xfrm>
          <a:prstGeom prst="straightConnector1">
            <a:avLst/>
          </a:prstGeom>
          <a:noFill/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30;p3"/>
          <p:cNvSpPr/>
          <p:nvPr/>
        </p:nvSpPr>
        <p:spPr>
          <a:xfrm>
            <a:off x="342000" y="2151574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STATUS: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" name="Google Shape;31;p3"/>
          <p:cNvGrpSpPr/>
          <p:nvPr/>
        </p:nvGrpSpPr>
        <p:grpSpPr>
          <a:xfrm>
            <a:off x="1068936" y="2170598"/>
            <a:ext cx="1024128" cy="365760"/>
            <a:chOff x="1691640" y="2377440"/>
            <a:chExt cx="1024128" cy="365760"/>
          </a:xfrm>
        </p:grpSpPr>
        <p:sp>
          <p:nvSpPr>
            <p:cNvPr id="32" name="Google Shape;32;p3"/>
            <p:cNvSpPr/>
            <p:nvPr/>
          </p:nvSpPr>
          <p:spPr>
            <a:xfrm>
              <a:off x="1691640" y="2377440"/>
              <a:ext cx="1024128" cy="365760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1691640" y="2377440"/>
              <a:ext cx="1024128" cy="3657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ON TRACK</a:t>
              </a:r>
              <a:endParaRPr sz="11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" name="Google Shape;34;p3"/>
          <p:cNvGrpSpPr/>
          <p:nvPr/>
        </p:nvGrpSpPr>
        <p:grpSpPr>
          <a:xfrm>
            <a:off x="5050125" y="2181084"/>
            <a:ext cx="928116" cy="365760"/>
            <a:chOff x="2898648" y="2377440"/>
            <a:chExt cx="928116" cy="365760"/>
          </a:xfrm>
        </p:grpSpPr>
        <p:sp>
          <p:nvSpPr>
            <p:cNvPr id="35" name="Google Shape;35;p3"/>
            <p:cNvSpPr/>
            <p:nvPr/>
          </p:nvSpPr>
          <p:spPr>
            <a:xfrm>
              <a:off x="2898648" y="2377440"/>
              <a:ext cx="928116" cy="365760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>
              <a:off x="2898648" y="2377440"/>
              <a:ext cx="928116" cy="3657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AT RISK</a:t>
              </a:r>
              <a:endPara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" name="Google Shape;37;p3"/>
          <p:cNvGrpSpPr/>
          <p:nvPr/>
        </p:nvGrpSpPr>
        <p:grpSpPr>
          <a:xfrm>
            <a:off x="2395979" y="2163089"/>
            <a:ext cx="928116" cy="365760"/>
            <a:chOff x="4009644" y="2377440"/>
            <a:chExt cx="928116" cy="365760"/>
          </a:xfrm>
        </p:grpSpPr>
        <p:sp>
          <p:nvSpPr>
            <p:cNvPr id="38" name="Google Shape;38;p3"/>
            <p:cNvSpPr/>
            <p:nvPr/>
          </p:nvSpPr>
          <p:spPr>
            <a:xfrm>
              <a:off x="4009644" y="2377440"/>
              <a:ext cx="928116" cy="365760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3"/>
            <p:cNvSpPr/>
            <p:nvPr/>
          </p:nvSpPr>
          <p:spPr>
            <a:xfrm>
              <a:off x="4009644" y="2377440"/>
              <a:ext cx="928116" cy="3657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BLOCKED</a:t>
              </a:r>
              <a:endParaRPr sz="11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0" name="Google Shape;40;p3"/>
          <p:cNvSpPr/>
          <p:nvPr/>
        </p:nvSpPr>
        <p:spPr>
          <a:xfrm>
            <a:off x="3627010" y="2176153"/>
            <a:ext cx="1120200" cy="3657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3627010" y="2163909"/>
            <a:ext cx="11202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COMPLETED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2" name="Google Shape;42;p3"/>
          <p:cNvGrpSpPr/>
          <p:nvPr/>
        </p:nvGrpSpPr>
        <p:grpSpPr>
          <a:xfrm>
            <a:off x="6281156" y="2158963"/>
            <a:ext cx="928200" cy="365760"/>
            <a:chOff x="6423660" y="2377440"/>
            <a:chExt cx="928200" cy="365760"/>
          </a:xfrm>
        </p:grpSpPr>
        <p:sp>
          <p:nvSpPr>
            <p:cNvPr id="43" name="Google Shape;43;p3"/>
            <p:cNvSpPr/>
            <p:nvPr/>
          </p:nvSpPr>
          <p:spPr>
            <a:xfrm>
              <a:off x="6423660" y="2377440"/>
              <a:ext cx="928116" cy="365760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3"/>
            <p:cNvSpPr/>
            <p:nvPr/>
          </p:nvSpPr>
          <p:spPr>
            <a:xfrm>
              <a:off x="6423660" y="2377440"/>
              <a:ext cx="928200" cy="36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ON HOLD</a:t>
              </a:r>
              <a:endPara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" name="Google Shape;45;p3"/>
          <p:cNvSpPr/>
          <p:nvPr/>
        </p:nvSpPr>
        <p:spPr>
          <a:xfrm>
            <a:off x="7428150" y="2147756"/>
            <a:ext cx="1828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000"/>
              <a:buFont typeface="Calibri"/>
              <a:buNone/>
            </a:pPr>
            <a:r>
              <a:rPr lang="en-US" sz="1000" b="0" i="1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( C</a:t>
            </a:r>
            <a:r>
              <a:rPr lang="en-US" sz="1000" i="1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hoose &amp; Mark</a:t>
            </a:r>
            <a:r>
              <a:rPr lang="en-US" sz="1000" b="0" i="1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 one )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359064" y="3656693"/>
            <a:ext cx="11517453" cy="395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SzPts val="1600"/>
            </a:pPr>
            <a:r>
              <a:rPr lang="en-US" sz="16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OBJECTIVE; </a:t>
            </a:r>
            <a:r>
              <a:rPr lang="en-US" sz="1600" b="1" dirty="0">
                <a:latin typeface="Calibri"/>
                <a:ea typeface="Calibri"/>
                <a:cs typeface="Calibri"/>
                <a:sym typeface="Calibri"/>
              </a:rPr>
              <a:t>RATIONALE / PURPOSE 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" name="Google Shape;47;p3"/>
          <p:cNvCxnSpPr>
            <a:cxnSpLocks/>
          </p:cNvCxnSpPr>
          <p:nvPr/>
        </p:nvCxnSpPr>
        <p:spPr>
          <a:xfrm>
            <a:off x="358814" y="4040350"/>
            <a:ext cx="11520000" cy="36085"/>
          </a:xfrm>
          <a:prstGeom prst="straightConnector1">
            <a:avLst/>
          </a:prstGeom>
          <a:noFill/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" name="Google Shape;49;p3"/>
          <p:cNvSpPr/>
          <p:nvPr/>
        </p:nvSpPr>
        <p:spPr>
          <a:xfrm>
            <a:off x="358815" y="5098316"/>
            <a:ext cx="11487229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WORK COMPLETED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" name="Google Shape;50;p3"/>
          <p:cNvCxnSpPr>
            <a:cxnSpLocks/>
          </p:cNvCxnSpPr>
          <p:nvPr/>
        </p:nvCxnSpPr>
        <p:spPr>
          <a:xfrm>
            <a:off x="360000" y="5472739"/>
            <a:ext cx="11521408" cy="0"/>
          </a:xfrm>
          <a:prstGeom prst="straightConnector1">
            <a:avLst/>
          </a:prstGeom>
          <a:noFill/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1" name="Google Shape;51;p3"/>
          <p:cNvSpPr/>
          <p:nvPr/>
        </p:nvSpPr>
        <p:spPr>
          <a:xfrm>
            <a:off x="358815" y="5464077"/>
            <a:ext cx="5358945" cy="1023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Completed / implemented ..................................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Developed / tested …….........................................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Analyzed / documented …....................................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6077177" y="5098316"/>
            <a:ext cx="57852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KEY OUTPUT / ACHIEVEMENT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6072131" y="5464077"/>
            <a:ext cx="5790727" cy="1023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Actual outcome, not activity .................................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e.g. 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ccuracy 82% → 89% …...................................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e.g. 10,000 sequences processed ..........................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54;p3">
            <a:extLst>
              <a:ext uri="{FF2B5EF4-FFF2-40B4-BE49-F238E27FC236}">
                <a16:creationId xmlns:a16="http://schemas.microsoft.com/office/drawing/2014/main" id="{9B4271F8-81FA-0930-4BA4-88947A8DA4FE}"/>
              </a:ext>
            </a:extLst>
          </p:cNvPr>
          <p:cNvSpPr txBox="1"/>
          <p:nvPr/>
        </p:nvSpPr>
        <p:spPr>
          <a:xfrm>
            <a:off x="6096000" y="642509"/>
            <a:ext cx="573243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Reviewed / Supervised by: </a:t>
            </a:r>
            <a:endParaRPr b="1" dirty="0"/>
          </a:p>
        </p:txBody>
      </p:sp>
      <p:cxnSp>
        <p:nvCxnSpPr>
          <p:cNvPr id="7" name="Google Shape;50;p3">
            <a:extLst>
              <a:ext uri="{FF2B5EF4-FFF2-40B4-BE49-F238E27FC236}">
                <a16:creationId xmlns:a16="http://schemas.microsoft.com/office/drawing/2014/main" id="{A57A61BA-EE26-D66C-9C87-1307EE9F0D1D}"/>
              </a:ext>
            </a:extLst>
          </p:cNvPr>
          <p:cNvCxnSpPr>
            <a:cxnSpLocks/>
          </p:cNvCxnSpPr>
          <p:nvPr/>
        </p:nvCxnSpPr>
        <p:spPr>
          <a:xfrm>
            <a:off x="359064" y="3099294"/>
            <a:ext cx="11520000" cy="17957"/>
          </a:xfrm>
          <a:prstGeom prst="straightConnector1">
            <a:avLst/>
          </a:prstGeom>
          <a:noFill/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" name="Google Shape;48;p3">
            <a:extLst>
              <a:ext uri="{FF2B5EF4-FFF2-40B4-BE49-F238E27FC236}">
                <a16:creationId xmlns:a16="http://schemas.microsoft.com/office/drawing/2014/main" id="{58673FC1-5D84-1584-AC14-342CB1B5035E}"/>
              </a:ext>
            </a:extLst>
          </p:cNvPr>
          <p:cNvSpPr/>
          <p:nvPr/>
        </p:nvSpPr>
        <p:spPr>
          <a:xfrm>
            <a:off x="359065" y="3111569"/>
            <a:ext cx="11517453" cy="545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indent="-342900"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300" dirty="0">
                <a:latin typeface="Calibri"/>
                <a:cs typeface="Calibri"/>
                <a:sym typeface="Calibri"/>
              </a:rPr>
              <a:t>....................................................................</a:t>
            </a:r>
          </a:p>
        </p:txBody>
      </p:sp>
      <p:sp>
        <p:nvSpPr>
          <p:cNvPr id="9" name="Google Shape;51;p3">
            <a:extLst>
              <a:ext uri="{FF2B5EF4-FFF2-40B4-BE49-F238E27FC236}">
                <a16:creationId xmlns:a16="http://schemas.microsoft.com/office/drawing/2014/main" id="{EBFA7D43-C7F0-FE73-7F8A-D77664408666}"/>
              </a:ext>
            </a:extLst>
          </p:cNvPr>
          <p:cNvSpPr/>
          <p:nvPr/>
        </p:nvSpPr>
        <p:spPr>
          <a:xfrm>
            <a:off x="358815" y="4054418"/>
            <a:ext cx="11504593" cy="98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lvl="0" indent="-342900">
              <a:buSzPts val="1300"/>
              <a:buFont typeface="Calibri"/>
              <a:buChar char="•"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Primary Objective for this week: ..............................................................................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>
              <a:spcBef>
                <a:spcPts val="800"/>
              </a:spcBef>
              <a:buSzPts val="1300"/>
              <a:buFont typeface="Calibri"/>
              <a:buChar char="•"/>
            </a:pPr>
            <a:r>
              <a:rPr lang="en-US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Rationale / Purpose of the work: 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.............................................................................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46;p3">
            <a:extLst>
              <a:ext uri="{FF2B5EF4-FFF2-40B4-BE49-F238E27FC236}">
                <a16:creationId xmlns:a16="http://schemas.microsoft.com/office/drawing/2014/main" id="{9C4EBE92-FF0B-E690-8D5C-3DA027CDE9A1}"/>
              </a:ext>
            </a:extLst>
          </p:cNvPr>
          <p:cNvSpPr/>
          <p:nvPr/>
        </p:nvSpPr>
        <p:spPr>
          <a:xfrm>
            <a:off x="363569" y="2737423"/>
            <a:ext cx="1151745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/>
            <a:r>
              <a:rPr lang="en-US" sz="1600" b="1" dirty="0">
                <a:latin typeface="Calibri" panose="020F0502020204030204" pitchFamily="34" charset="0"/>
                <a:cs typeface="Calibri" panose="020F0502020204030204" pitchFamily="34" charset="0"/>
              </a:rPr>
              <a:t>PREVIOUS WEEK WORK SUMMARY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3E9D56-11AE-1E5A-BF1F-E459390C7FBA}"/>
              </a:ext>
            </a:extLst>
          </p:cNvPr>
          <p:cNvSpPr txBox="1"/>
          <p:nvPr/>
        </p:nvSpPr>
        <p:spPr>
          <a:xfrm>
            <a:off x="10431984" y="128382"/>
            <a:ext cx="1414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  <a:sym typeface="Calibri"/>
              </a:rPr>
              <a:t>[ </a:t>
            </a:r>
            <a:r>
              <a:rPr lang="en-US" b="1" i="1" dirty="0">
                <a:latin typeface="Calibri"/>
                <a:ea typeface="Calibri"/>
                <a:cs typeface="Calibri"/>
                <a:sym typeface="Calibri"/>
              </a:rPr>
              <a:t>Version 1.1 ]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4"/>
          <p:cNvSpPr/>
          <p:nvPr/>
        </p:nvSpPr>
        <p:spPr>
          <a:xfrm>
            <a:off x="360000" y="274289"/>
            <a:ext cx="57360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200"/>
              <a:buFont typeface="Calibri"/>
              <a:buNone/>
            </a:pPr>
            <a:r>
              <a:rPr lang="en-US" sz="12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SLIDE </a:t>
            </a:r>
            <a:r>
              <a:rPr lang="en-US" sz="1200" b="1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2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  /  TECHNICAL DETAILS  ( OPTIONAL — only when evidence is needed )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360000" y="658368"/>
            <a:ext cx="114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lang="en-US" sz="22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TECHNICAL ANALYSIS / EXPERIMENTAL EVIDENCE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360000" y="1207039"/>
            <a:ext cx="6498000" cy="4405968"/>
          </a:xfrm>
          <a:prstGeom prst="rect">
            <a:avLst/>
          </a:prstGeom>
          <a:solidFill>
            <a:srgbClr val="F3F3F3"/>
          </a:solidFill>
          <a:ln w="12700" cap="flat" cmpd="sng">
            <a:solidFill>
              <a:srgbClr val="00000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3" name="Google Shape;63;p4"/>
          <p:cNvSpPr/>
          <p:nvPr/>
        </p:nvSpPr>
        <p:spPr>
          <a:xfrm>
            <a:off x="457200" y="3017520"/>
            <a:ext cx="65836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[ WORKFLOW / GRAPH / IMAGE / TABLE / ARCHITECTURE ]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640080" y="3520440"/>
            <a:ext cx="62179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e.g.  Dataset → Preprocessing → Features → Model A (82%) → Model B (89%) → Validation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7138080" y="1207039"/>
            <a:ext cx="4516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KEY OBSERVATIONS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6" name="Google Shape;66;p4"/>
          <p:cNvCxnSpPr>
            <a:cxnSpLocks/>
          </p:cNvCxnSpPr>
          <p:nvPr/>
        </p:nvCxnSpPr>
        <p:spPr>
          <a:xfrm>
            <a:off x="7138080" y="1591087"/>
            <a:ext cx="4693920" cy="0"/>
          </a:xfrm>
          <a:prstGeom prst="straightConnector1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" name="Google Shape;67;p4"/>
          <p:cNvSpPr/>
          <p:nvPr/>
        </p:nvSpPr>
        <p:spPr>
          <a:xfrm>
            <a:off x="7138080" y="1591087"/>
            <a:ext cx="4297680" cy="181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.....................................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............................................................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.....................................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............................................................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.....................................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............................................................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7138080" y="3428806"/>
            <a:ext cx="4516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DISCUSSION REQUIRED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9" name="Google Shape;69;p4"/>
          <p:cNvCxnSpPr>
            <a:cxnSpLocks/>
          </p:cNvCxnSpPr>
          <p:nvPr/>
        </p:nvCxnSpPr>
        <p:spPr>
          <a:xfrm>
            <a:off x="7138080" y="3812854"/>
            <a:ext cx="4693920" cy="0"/>
          </a:xfrm>
          <a:prstGeom prst="straightConnector1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" name="Google Shape;70;p4"/>
          <p:cNvSpPr/>
          <p:nvPr/>
        </p:nvSpPr>
        <p:spPr>
          <a:xfrm>
            <a:off x="7138080" y="3886005"/>
            <a:ext cx="4297680" cy="1726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lvl="0" indent="-342900">
              <a:buSzPts val="1200"/>
              <a:buFont typeface="Calibri"/>
              <a:buChar char="•"/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.....................................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............................................................</a:t>
            </a:r>
          </a:p>
          <a:p>
            <a:pPr marL="342900" lvl="0" indent="-342900">
              <a:spcBef>
                <a:spcPts val="700"/>
              </a:spcBef>
              <a:buSzPts val="1200"/>
              <a:buFont typeface="Calibri"/>
              <a:buChar char="•"/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.....................................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............................................................</a:t>
            </a:r>
          </a:p>
          <a:p>
            <a:pPr marL="342900" lvl="0" indent="-342900">
              <a:spcBef>
                <a:spcPts val="700"/>
              </a:spcBef>
              <a:buSzPts val="1200"/>
              <a:buFont typeface="Calibri"/>
              <a:buChar char="•"/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.....................................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............................................................</a:t>
            </a:r>
          </a:p>
        </p:txBody>
      </p:sp>
      <p:sp>
        <p:nvSpPr>
          <p:cNvPr id="71" name="Google Shape;71;p4"/>
          <p:cNvSpPr/>
          <p:nvPr/>
        </p:nvSpPr>
        <p:spPr>
          <a:xfrm>
            <a:off x="360000" y="5906798"/>
            <a:ext cx="11472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000"/>
              <a:buFont typeface="Calibri"/>
              <a:buNone/>
            </a:pPr>
            <a:r>
              <a:rPr lang="en-US" sz="1200" b="0" i="1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Include: Architecture · experimental setup · hyperparameters · pipeline · QC metrics · comparison of approaches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63;p4">
            <a:extLst>
              <a:ext uri="{FF2B5EF4-FFF2-40B4-BE49-F238E27FC236}">
                <a16:creationId xmlns:a16="http://schemas.microsoft.com/office/drawing/2014/main" id="{27970065-2509-C53E-19D5-A9A7D648B36A}"/>
              </a:ext>
            </a:extLst>
          </p:cNvPr>
          <p:cNvSpPr/>
          <p:nvPr/>
        </p:nvSpPr>
        <p:spPr>
          <a:xfrm>
            <a:off x="457200" y="1929383"/>
            <a:ext cx="6583680" cy="746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[ </a:t>
            </a:r>
            <a:r>
              <a:rPr lang="en-US" sz="1300" b="1" i="0" u="sng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EACH EXPERIMENT SHALL HAVE AN UNIQUE NUMBER AS PER THE PROJECT</a:t>
            </a:r>
            <a:r>
              <a:rPr lang="en-US" sz="1300" b="1" i="0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]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5"/>
          <p:cNvSpPr/>
          <p:nvPr/>
        </p:nvSpPr>
        <p:spPr>
          <a:xfrm>
            <a:off x="360000" y="242316"/>
            <a:ext cx="5736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200"/>
              <a:buFont typeface="Calibri"/>
              <a:buNone/>
            </a:pPr>
            <a:r>
              <a:rPr lang="en-US" sz="12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SLIDE 3  /  RESULTS &amp; NEXT ACTIONS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338511" y="658368"/>
            <a:ext cx="11365809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lang="en-US" sz="22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RESULTS  •  ISSUES  •  DECISION  •  </a:t>
            </a:r>
            <a:r>
              <a:rPr lang="en-US" sz="2200" b="1" dirty="0">
                <a:latin typeface="Calibri"/>
                <a:ea typeface="Calibri"/>
                <a:cs typeface="Calibri"/>
                <a:sym typeface="Calibri"/>
              </a:rPr>
              <a:t>FUTURE PLAN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338511" y="1287192"/>
            <a:ext cx="11365809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RESULTS / KEY FINDINGS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" name="Google Shape;80;p5"/>
          <p:cNvCxnSpPr>
            <a:cxnSpLocks/>
          </p:cNvCxnSpPr>
          <p:nvPr/>
        </p:nvCxnSpPr>
        <p:spPr>
          <a:xfrm flipV="1">
            <a:off x="360000" y="1652952"/>
            <a:ext cx="11520000" cy="8148"/>
          </a:xfrm>
          <a:prstGeom prst="straightConnector1">
            <a:avLst/>
          </a:prstGeom>
          <a:noFill/>
          <a:ln w="12700" cap="flat" cmpd="sng">
            <a:solidFill>
              <a:srgbClr val="999999"/>
            </a:solidFill>
            <a:prstDash val="solid"/>
            <a:round/>
            <a:headEnd type="none" w="sm" len="sm"/>
            <a:tailEnd type="none" w="sm" len="sm"/>
          </a:ln>
        </p:spPr>
      </p:cxnSp>
      <p:graphicFrame>
        <p:nvGraphicFramePr>
          <p:cNvPr id="81" name="Google Shape;81;p5"/>
          <p:cNvGraphicFramePr/>
          <p:nvPr>
            <p:extLst>
              <p:ext uri="{D42A27DB-BD31-4B8C-83A1-F6EECF244321}">
                <p14:modId xmlns:p14="http://schemas.microsoft.com/office/powerpoint/2010/main" val="1332795761"/>
              </p:ext>
            </p:extLst>
          </p:nvPr>
        </p:nvGraphicFramePr>
        <p:xfrm>
          <a:off x="358784" y="1744392"/>
          <a:ext cx="5609922" cy="1042425"/>
        </p:xfrm>
        <a:graphic>
          <a:graphicData uri="http://schemas.openxmlformats.org/drawingml/2006/table">
            <a:tbl>
              <a:tblPr>
                <a:noFill/>
                <a:tableStyleId>{E36FC476-6782-4A7F-9624-08B9DE5F961E}</a:tableStyleId>
              </a:tblPr>
              <a:tblGrid>
                <a:gridCol w="24831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05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6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dk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PARAMETER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dk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PREVIOUS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chemeClr val="dk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CURRENT</a:t>
                      </a:r>
                      <a:endParaRPr sz="1200" u="none" strike="noStrike" cap="none">
                        <a:solidFill>
                          <a:schemeClr val="dk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.....................</a:t>
                      </a:r>
                      <a:endParaRPr sz="1200" u="none" strike="noStrike" cap="none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.................</a:t>
                      </a:r>
                      <a:endParaRPr sz="1200" u="none" strike="noStrike" cap="none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...............</a:t>
                      </a:r>
                      <a:endParaRPr sz="1200" u="none" strike="noStrike" cap="none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.....................</a:t>
                      </a:r>
                      <a:endParaRPr sz="1200" u="none" strike="noStrike" cap="none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.................</a:t>
                      </a:r>
                      <a:endParaRPr sz="1200" u="none" strike="noStrike" cap="none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...............</a:t>
                      </a:r>
                      <a:endParaRPr sz="1200" u="none" strike="noStrike" cap="none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2" name="Google Shape;82;p5"/>
          <p:cNvSpPr/>
          <p:nvPr/>
        </p:nvSpPr>
        <p:spPr>
          <a:xfrm>
            <a:off x="360000" y="2983188"/>
            <a:ext cx="4943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lang="en-US" sz="1100" b="0" i="1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Or: Finding 1 ......   Finding 2 ......   Finding 3 ......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lang="en-US" sz="1100" b="0" i="1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Prefer graphs / images / tables over paragraphs.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6235074" y="1287192"/>
            <a:ext cx="560992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ISSUES / BLOCKERS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4" name="Google Shape;84;p5"/>
          <p:cNvGraphicFramePr/>
          <p:nvPr>
            <p:extLst>
              <p:ext uri="{D42A27DB-BD31-4B8C-83A1-F6EECF244321}">
                <p14:modId xmlns:p14="http://schemas.microsoft.com/office/powerpoint/2010/main" val="100303004"/>
              </p:ext>
            </p:extLst>
          </p:nvPr>
        </p:nvGraphicFramePr>
        <p:xfrm>
          <a:off x="6235074" y="1744392"/>
          <a:ext cx="5609921" cy="1042425"/>
        </p:xfrm>
        <a:graphic>
          <a:graphicData uri="http://schemas.openxmlformats.org/drawingml/2006/table">
            <a:tbl>
              <a:tblPr>
                <a:noFill/>
                <a:tableStyleId>{E36FC476-6782-4A7F-9624-08B9DE5F961E}</a:tableStyleId>
              </a:tblPr>
              <a:tblGrid>
                <a:gridCol w="23152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9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52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dk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ISSUE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dk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IMPACT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dk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ACTION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.............</a:t>
                      </a:r>
                      <a:endParaRPr sz="1200" u="none" strike="noStrike" cap="none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 / M / L</a:t>
                      </a:r>
                      <a:endParaRPr sz="1200" u="none" strike="noStrike" cap="none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.............</a:t>
                      </a:r>
                      <a:endParaRPr sz="1200" u="none" strike="noStrike" cap="none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.............</a:t>
                      </a:r>
                      <a:endParaRPr sz="1200" u="none" strike="noStrike" cap="none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 / M / L</a:t>
                      </a:r>
                      <a:endParaRPr sz="1200" u="none" strike="noStrike" cap="none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.............</a:t>
                      </a:r>
                      <a:endParaRPr sz="1200" u="none" strike="noStrike" cap="none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5" name="Google Shape;85;p5"/>
          <p:cNvSpPr/>
          <p:nvPr/>
        </p:nvSpPr>
        <p:spPr>
          <a:xfrm>
            <a:off x="358166" y="3819640"/>
            <a:ext cx="5609922" cy="914400"/>
          </a:xfrm>
          <a:prstGeom prst="rect">
            <a:avLst/>
          </a:prstGeom>
          <a:solidFill>
            <a:srgbClr val="F3F3F3"/>
          </a:solidFill>
          <a:ln w="19050" cap="flat" cmpd="sng">
            <a:solidFill>
              <a:srgbClr val="EFEF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511834" y="3911065"/>
            <a:ext cx="1871906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 dirty="0">
                <a:latin typeface="Calibri"/>
                <a:ea typeface="Calibri"/>
                <a:cs typeface="Calibri"/>
                <a:sym typeface="Calibri"/>
              </a:rPr>
              <a:t>INFERENCE / CONCLUSION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358166" y="4962635"/>
            <a:ext cx="1134615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1" dirty="0">
                <a:latin typeface="Calibri"/>
                <a:ea typeface="Calibri"/>
                <a:cs typeface="Calibri"/>
                <a:sym typeface="Calibri"/>
              </a:rPr>
              <a:t>NEXT WEEK </a:t>
            </a:r>
            <a:r>
              <a:rPr lang="en-US" sz="16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/ FUTURE PLAN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8" name="Google Shape;88;p5"/>
          <p:cNvCxnSpPr>
            <a:cxnSpLocks/>
          </p:cNvCxnSpPr>
          <p:nvPr/>
        </p:nvCxnSpPr>
        <p:spPr>
          <a:xfrm>
            <a:off x="360000" y="5346683"/>
            <a:ext cx="11484996" cy="0"/>
          </a:xfrm>
          <a:prstGeom prst="straightConnector1">
            <a:avLst/>
          </a:prstGeom>
          <a:noFill/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9" name="Google Shape;89;p5"/>
          <p:cNvSpPr/>
          <p:nvPr/>
        </p:nvSpPr>
        <p:spPr>
          <a:xfrm>
            <a:off x="338511" y="5419835"/>
            <a:ext cx="6036373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Action 1 ..............................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Action 2 ..............................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6204451" y="5419835"/>
            <a:ext cx="564054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Action 3 ...........................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Action 4 (max) .................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6235074" y="3819640"/>
            <a:ext cx="5609922" cy="914400"/>
          </a:xfrm>
          <a:prstGeom prst="rect">
            <a:avLst/>
          </a:prstGeom>
          <a:solidFill>
            <a:srgbClr val="F3F3F3"/>
          </a:solidFill>
          <a:ln w="19050" cap="flat" cmpd="sng">
            <a:solidFill>
              <a:srgbClr val="EFEF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6374884" y="3911065"/>
            <a:ext cx="2356024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 dirty="0">
                <a:latin typeface="Calibri"/>
                <a:ea typeface="Calibri"/>
                <a:cs typeface="Calibri"/>
                <a:sym typeface="Calibri"/>
              </a:rPr>
              <a:t>ANY UNPLANNED WORK DONE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6"/>
          <p:cNvSpPr/>
          <p:nvPr/>
        </p:nvSpPr>
        <p:spPr>
          <a:xfrm>
            <a:off x="347241" y="658375"/>
            <a:ext cx="1639659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lang="en-US" sz="2200" b="1" dirty="0">
                <a:latin typeface="Calibri"/>
                <a:ea typeface="Calibri"/>
                <a:cs typeface="Calibri"/>
                <a:sym typeface="Calibri"/>
              </a:rPr>
              <a:t>REFERENCES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347241" y="3519650"/>
            <a:ext cx="1639659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lang="en-US" sz="2200" b="1" dirty="0">
                <a:latin typeface="Calibri"/>
                <a:ea typeface="Calibri"/>
                <a:cs typeface="Calibri"/>
                <a:sym typeface="Calibri"/>
              </a:rPr>
              <a:t>APPENDICES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" name="Google Shape;88;p5">
            <a:extLst>
              <a:ext uri="{FF2B5EF4-FFF2-40B4-BE49-F238E27FC236}">
                <a16:creationId xmlns:a16="http://schemas.microsoft.com/office/drawing/2014/main" id="{AFC88BA4-F6F0-3953-B0F7-3E565498EE65}"/>
              </a:ext>
            </a:extLst>
          </p:cNvPr>
          <p:cNvCxnSpPr>
            <a:cxnSpLocks/>
          </p:cNvCxnSpPr>
          <p:nvPr/>
        </p:nvCxnSpPr>
        <p:spPr>
          <a:xfrm>
            <a:off x="360000" y="1138755"/>
            <a:ext cx="11520000" cy="0"/>
          </a:xfrm>
          <a:prstGeom prst="straightConnector1">
            <a:avLst/>
          </a:prstGeom>
          <a:noFill/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" name="Google Shape;88;p5">
            <a:extLst>
              <a:ext uri="{FF2B5EF4-FFF2-40B4-BE49-F238E27FC236}">
                <a16:creationId xmlns:a16="http://schemas.microsoft.com/office/drawing/2014/main" id="{F2EFD79A-8A69-5A91-742A-08687EBCB3FE}"/>
              </a:ext>
            </a:extLst>
          </p:cNvPr>
          <p:cNvCxnSpPr>
            <a:cxnSpLocks/>
          </p:cNvCxnSpPr>
          <p:nvPr/>
        </p:nvCxnSpPr>
        <p:spPr>
          <a:xfrm>
            <a:off x="360000" y="4021454"/>
            <a:ext cx="11520000" cy="0"/>
          </a:xfrm>
          <a:prstGeom prst="straightConnector1">
            <a:avLst/>
          </a:prstGeom>
          <a:noFill/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" name="Google Shape;77;p5">
            <a:extLst>
              <a:ext uri="{FF2B5EF4-FFF2-40B4-BE49-F238E27FC236}">
                <a16:creationId xmlns:a16="http://schemas.microsoft.com/office/drawing/2014/main" id="{AAB6D6CA-7848-AB97-6BC7-E202530EE6AA}"/>
              </a:ext>
            </a:extLst>
          </p:cNvPr>
          <p:cNvSpPr/>
          <p:nvPr/>
        </p:nvSpPr>
        <p:spPr>
          <a:xfrm>
            <a:off x="347241" y="237063"/>
            <a:ext cx="574875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200"/>
              <a:buFont typeface="Calibri"/>
              <a:buNone/>
            </a:pPr>
            <a:r>
              <a:rPr lang="en-US" sz="12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SLIDE </a:t>
            </a:r>
            <a:r>
              <a:rPr lang="en-US" sz="1200" b="1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lang="en-US" sz="1200" b="1" i="0" u="none" strike="noStrike" cap="none" dirty="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  /  REFERENCES &amp; APPENDICES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325</Words>
  <Application>Microsoft Macintosh PowerPoint</Application>
  <PresentationFormat>Widescreen</PresentationFormat>
  <Paragraphs>84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Jayamuruga Pandian Arunachalam</cp:lastModifiedBy>
  <cp:revision>9</cp:revision>
  <dcterms:modified xsi:type="dcterms:W3CDTF">2026-08-25T16:42:07Z</dcterms:modified>
</cp:coreProperties>
</file>