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D21E83-F182-41DF-A42D-6A1F09B24763}">
  <a:tblStyle styleId="{B8D21E83-F182-41DF-A42D-6A1F09B24763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h760b07521a699df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h760b07521a699df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h760b07521a699df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" name="Google Shape;9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358815" y="235631"/>
            <a:ext cx="5732430" cy="33264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SLIDE 1  </a:t>
            </a: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PROGRESS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358818" y="556788"/>
            <a:ext cx="11469609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WEEKLY WORK UPDATE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45955" y="1260485"/>
            <a:ext cx="11517453" cy="732639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363569" y="1290538"/>
            <a:ext cx="2854475" cy="283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PROJECT / WORKSTREAM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358813" y="1583146"/>
            <a:ext cx="2866821" cy="320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________________________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202490" y="1251822"/>
            <a:ext cx="2909014" cy="3112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EMPLOYEE NAME &amp; 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222681" y="1577101"/>
            <a:ext cx="2880453" cy="32675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____________         ____________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3222680" y="1260485"/>
            <a:ext cx="0" cy="715853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6080760" y="1271267"/>
            <a:ext cx="2902828" cy="288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TEAM  LEAD &amp; MEMBERS (Initials)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103135" y="1560258"/>
            <a:ext cx="2878136" cy="32315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____________        ____________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>
            <a:stCxn id="18" idx="0"/>
          </p:cNvCxnSpPr>
          <p:nvPr/>
        </p:nvCxnSpPr>
        <p:spPr>
          <a:xfrm flipH="1">
            <a:off x="6103782" y="1260485"/>
            <a:ext cx="900" cy="71580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8980634" y="1290539"/>
            <a:ext cx="2878137" cy="2839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WEEK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005196" y="1583146"/>
            <a:ext cx="2853576" cy="32070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YYYY/MM/</a:t>
            </a: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DD – DD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8985137" y="1290538"/>
            <a:ext cx="0" cy="68580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342000" y="2151574"/>
            <a:ext cx="1188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STATUS: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" name="Google Shape;31;p3"/>
          <p:cNvGrpSpPr/>
          <p:nvPr/>
        </p:nvGrpSpPr>
        <p:grpSpPr>
          <a:xfrm>
            <a:off x="1068936" y="2170598"/>
            <a:ext cx="1024128" cy="365760"/>
            <a:chOff x="1691640" y="2377440"/>
            <a:chExt cx="1024128" cy="365760"/>
          </a:xfrm>
        </p:grpSpPr>
        <p:sp>
          <p:nvSpPr>
            <p:cNvPr id="32" name="Google Shape;32;p3"/>
            <p:cNvSpPr/>
            <p:nvPr/>
          </p:nvSpPr>
          <p:spPr>
            <a:xfrm>
              <a:off x="1691640" y="2377440"/>
              <a:ext cx="1024128" cy="36576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1691640" y="2377440"/>
              <a:ext cx="1024128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ON TRACK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;p3"/>
          <p:cNvGrpSpPr/>
          <p:nvPr/>
        </p:nvGrpSpPr>
        <p:grpSpPr>
          <a:xfrm>
            <a:off x="5050125" y="2181084"/>
            <a:ext cx="928116" cy="365760"/>
            <a:chOff x="2898648" y="2377440"/>
            <a:chExt cx="928116" cy="365760"/>
          </a:xfrm>
        </p:grpSpPr>
        <p:sp>
          <p:nvSpPr>
            <p:cNvPr id="35" name="Google Shape;35;p3"/>
            <p:cNvSpPr/>
            <p:nvPr/>
          </p:nvSpPr>
          <p:spPr>
            <a:xfrm>
              <a:off x="2898648" y="2377440"/>
              <a:ext cx="928116" cy="36576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2898648" y="2377440"/>
              <a:ext cx="9281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1" i="0" lang="en-US" sz="11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AT RISK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" name="Google Shape;37;p3"/>
          <p:cNvGrpSpPr/>
          <p:nvPr/>
        </p:nvGrpSpPr>
        <p:grpSpPr>
          <a:xfrm>
            <a:off x="2395979" y="2163089"/>
            <a:ext cx="928116" cy="365760"/>
            <a:chOff x="4009644" y="2377440"/>
            <a:chExt cx="928116" cy="365760"/>
          </a:xfrm>
        </p:grpSpPr>
        <p:sp>
          <p:nvSpPr>
            <p:cNvPr id="38" name="Google Shape;38;p3"/>
            <p:cNvSpPr/>
            <p:nvPr/>
          </p:nvSpPr>
          <p:spPr>
            <a:xfrm>
              <a:off x="4009644" y="2377440"/>
              <a:ext cx="928116" cy="36576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4009644" y="2377440"/>
              <a:ext cx="928116" cy="3657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ON HOLD</a:t>
              </a:r>
              <a:endParaRPr b="1" sz="11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" name="Google Shape;40;p3"/>
          <p:cNvSpPr/>
          <p:nvPr/>
        </p:nvSpPr>
        <p:spPr>
          <a:xfrm>
            <a:off x="3627010" y="2176153"/>
            <a:ext cx="1120200" cy="365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3627010" y="2163909"/>
            <a:ext cx="112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" name="Google Shape;42;p3"/>
          <p:cNvGrpSpPr/>
          <p:nvPr/>
        </p:nvGrpSpPr>
        <p:grpSpPr>
          <a:xfrm>
            <a:off x="6281156" y="2158963"/>
            <a:ext cx="928200" cy="365760"/>
            <a:chOff x="6423660" y="2377440"/>
            <a:chExt cx="928200" cy="365760"/>
          </a:xfrm>
        </p:grpSpPr>
        <p:sp>
          <p:nvSpPr>
            <p:cNvPr id="43" name="Google Shape;43;p3"/>
            <p:cNvSpPr/>
            <p:nvPr/>
          </p:nvSpPr>
          <p:spPr>
            <a:xfrm>
              <a:off x="6423660" y="2377440"/>
              <a:ext cx="928116" cy="36576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423660" y="2377440"/>
              <a:ext cx="9282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Calibri"/>
                <a:buNone/>
              </a:pPr>
              <a:r>
                <a:rPr b="1" lang="en-US" sz="11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BLOCKED</a:t>
              </a:r>
              <a:endParaRPr b="1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" name="Google Shape;45;p3"/>
          <p:cNvSpPr/>
          <p:nvPr/>
        </p:nvSpPr>
        <p:spPr>
          <a:xfrm>
            <a:off x="7428150" y="2147756"/>
            <a:ext cx="182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( Choose &amp; Mark one 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59064" y="3656693"/>
            <a:ext cx="11517453" cy="3951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OBJECTIVE; RATIONALE / PURPOSE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" name="Google Shape;47;p3"/>
          <p:cNvCxnSpPr/>
          <p:nvPr/>
        </p:nvCxnSpPr>
        <p:spPr>
          <a:xfrm>
            <a:off x="358814" y="4040350"/>
            <a:ext cx="11520000" cy="36085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"/>
          <p:cNvSpPr/>
          <p:nvPr/>
        </p:nvSpPr>
        <p:spPr>
          <a:xfrm>
            <a:off x="358815" y="5098316"/>
            <a:ext cx="1148722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WORK COMPLETED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" name="Google Shape;49;p3"/>
          <p:cNvCxnSpPr/>
          <p:nvPr/>
        </p:nvCxnSpPr>
        <p:spPr>
          <a:xfrm>
            <a:off x="360000" y="5472739"/>
            <a:ext cx="11521408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" name="Google Shape;50;p3"/>
          <p:cNvSpPr/>
          <p:nvPr/>
        </p:nvSpPr>
        <p:spPr>
          <a:xfrm>
            <a:off x="358815" y="5464077"/>
            <a:ext cx="5358945" cy="102352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Completed /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mplemented ..................................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Developed /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ested …….........................................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Analyzed / </a:t>
            </a:r>
            <a:r>
              <a:rPr lang="en-US" sz="1300"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ocumented …....................................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6077177" y="5098316"/>
            <a:ext cx="57852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OUTPUT / ACHIEVEMENT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6072131" y="5464077"/>
            <a:ext cx="5790727" cy="1023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Actual outcome, not activity .................................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 Accuracy 82% → 89% …...................................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e.g. 10,000 sequences processed 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6096000" y="642509"/>
            <a:ext cx="573243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Reviewed / Supervised by: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359064" y="3099294"/>
            <a:ext cx="11520000" cy="17957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3"/>
          <p:cNvSpPr/>
          <p:nvPr/>
        </p:nvSpPr>
        <p:spPr>
          <a:xfrm>
            <a:off x="359065" y="3111569"/>
            <a:ext cx="11517453" cy="545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....................................................................</a:t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358815" y="4054418"/>
            <a:ext cx="11504593" cy="98991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Primary Objective for this week: ..............................................................................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Rationale / Purpose of the work: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.............................................................................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363569" y="2737423"/>
            <a:ext cx="11517453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PREVIOUS WEEK WORK SUMMARY</a:t>
            </a:r>
            <a:endParaRPr/>
          </a:p>
        </p:txBody>
      </p:sp>
      <p:sp>
        <p:nvSpPr>
          <p:cNvPr id="58" name="Google Shape;58;p3"/>
          <p:cNvSpPr txBox="1"/>
          <p:nvPr/>
        </p:nvSpPr>
        <p:spPr>
          <a:xfrm>
            <a:off x="10431984" y="128382"/>
            <a:ext cx="141406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 </a:t>
            </a:r>
            <a:r>
              <a:rPr b="1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Version 1.</a:t>
            </a:r>
            <a:r>
              <a:rPr b="1" i="1" lang="en-US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1" i="1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360000" y="274289"/>
            <a:ext cx="573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SLIDE 2 </a:t>
            </a: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TECHNICAL DETAILS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360000" y="658368"/>
            <a:ext cx="114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 ANALYSIS / EXPERIMENTAL EVIDENCE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60075" y="1207039"/>
            <a:ext cx="6498000" cy="44061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" name="Google Shape;67;p4"/>
          <p:cNvGrpSpPr/>
          <p:nvPr/>
        </p:nvGrpSpPr>
        <p:grpSpPr>
          <a:xfrm>
            <a:off x="317163" y="2907145"/>
            <a:ext cx="6583800" cy="1005895"/>
            <a:chOff x="317163" y="3063245"/>
            <a:chExt cx="6583800" cy="1005895"/>
          </a:xfrm>
        </p:grpSpPr>
        <p:sp>
          <p:nvSpPr>
            <p:cNvPr id="68" name="Google Shape;68;p4"/>
            <p:cNvSpPr/>
            <p:nvPr/>
          </p:nvSpPr>
          <p:spPr>
            <a:xfrm>
              <a:off x="317163" y="3063245"/>
              <a:ext cx="65838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[ GRAPH / IMAGE / TABLE]</a:t>
              </a:r>
              <a:endPara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640080" y="3520440"/>
              <a:ext cx="6217800" cy="54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55555"/>
                </a:buClr>
                <a:buSzPts val="1100"/>
                <a:buFont typeface="Calibri"/>
                <a:buNone/>
              </a:pPr>
              <a:r>
                <a:rPr b="0" i="1" lang="en-US" sz="1100" u="none" cap="none" strike="noStrike">
                  <a:solidFill>
                    <a:srgbClr val="555555"/>
                  </a:solidFill>
                  <a:latin typeface="Calibri"/>
                  <a:ea typeface="Calibri"/>
                  <a:cs typeface="Calibri"/>
                  <a:sym typeface="Calibri"/>
                </a:rPr>
                <a:t>e.g.  Dataset → Preprocessing → Features → Model A (82%) → Model B (89%) → Validation</a:t>
              </a:r>
              <a:endPara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7138080" y="1207039"/>
            <a:ext cx="451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OBSERVATIONS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4"/>
          <p:cNvCxnSpPr/>
          <p:nvPr/>
        </p:nvCxnSpPr>
        <p:spPr>
          <a:xfrm>
            <a:off x="7138080" y="1591087"/>
            <a:ext cx="469392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4"/>
          <p:cNvSpPr/>
          <p:nvPr/>
        </p:nvSpPr>
        <p:spPr>
          <a:xfrm>
            <a:off x="7138080" y="1591087"/>
            <a:ext cx="4297680" cy="1819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............................................................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............................................................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............................................................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7138080" y="3428806"/>
            <a:ext cx="451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4" name="Google Shape;74;p4"/>
          <p:cNvCxnSpPr/>
          <p:nvPr/>
        </p:nvCxnSpPr>
        <p:spPr>
          <a:xfrm>
            <a:off x="7138080" y="3812854"/>
            <a:ext cx="4693920" cy="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" name="Google Shape;75;p4"/>
          <p:cNvSpPr/>
          <p:nvPr/>
        </p:nvSpPr>
        <p:spPr>
          <a:xfrm>
            <a:off x="7138080" y="3886005"/>
            <a:ext cx="4297680" cy="1726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............................................................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............................................................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............................................................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/>
          <p:nvPr/>
        </p:nvSpPr>
        <p:spPr>
          <a:xfrm>
            <a:off x="360000" y="242316"/>
            <a:ext cx="5736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 :</a:t>
            </a: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EXPLICATION &amp; DIAGRAMATIC REPRESENTATION OF THE EXPERIMENT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04500" y="1221175"/>
            <a:ext cx="10983000" cy="5333100"/>
          </a:xfrm>
          <a:prstGeom prst="rect">
            <a:avLst/>
          </a:prstGeom>
          <a:solidFill>
            <a:srgbClr val="F3F3F3"/>
          </a:solidFill>
          <a:ln cap="flat" cmpd="sng" w="1270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2909725" y="3644357"/>
            <a:ext cx="6583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ARCHITECTURE / </a:t>
            </a:r>
            <a:r>
              <a:rPr b="1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r>
              <a:rPr b="1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2558850" y="2756438"/>
            <a:ext cx="70743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BASIC  DRAWING OF THE </a:t>
            </a:r>
            <a:r>
              <a:rPr b="1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EXPERIMENTATION</a:t>
            </a:r>
            <a:r>
              <a:rPr b="1" lang="en-US" sz="13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PART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360000" y="5128948"/>
            <a:ext cx="114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i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May i</a:t>
            </a: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nclude:</a:t>
            </a: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r>
              <a:rPr b="0" i="1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· experimental setup · hyperparameters · pipeline · QC metrics · comparison of approaches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 txBox="1"/>
          <p:nvPr/>
        </p:nvSpPr>
        <p:spPr>
          <a:xfrm>
            <a:off x="177075" y="576850"/>
            <a:ext cx="775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DIAGRAMATIC REPRESENTATION OF THE EXPERIMENT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360000" y="242316"/>
            <a:ext cx="5736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 RESULTS &amp; NEXT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338511" y="658368"/>
            <a:ext cx="1136580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  •  ISSUES  •  DECISION  •  FUTURE PLAN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38511" y="1287192"/>
            <a:ext cx="11365809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RESULTS / KEY FINDINGS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6"/>
          <p:cNvCxnSpPr>
            <a:endCxn id="94" idx="2"/>
          </p:cNvCxnSpPr>
          <p:nvPr/>
        </p:nvCxnSpPr>
        <p:spPr>
          <a:xfrm flipH="1" rot="10800000">
            <a:off x="360115" y="1652952"/>
            <a:ext cx="5661300" cy="8100"/>
          </a:xfrm>
          <a:prstGeom prst="straightConnector1">
            <a:avLst/>
          </a:prstGeom>
          <a:noFill/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  <p:graphicFrame>
        <p:nvGraphicFramePr>
          <p:cNvPr id="96" name="Google Shape;96;p6"/>
          <p:cNvGraphicFramePr/>
          <p:nvPr/>
        </p:nvGraphicFramePr>
        <p:xfrm>
          <a:off x="358784" y="17443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{B8D21E83-F182-41DF-A42D-6A1F09B24763}</a:tableStyleId>
              </a:tblPr>
              <a:tblGrid>
                <a:gridCol w="2483200"/>
                <a:gridCol w="1390575"/>
                <a:gridCol w="17361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PREVIOUS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CURRENT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" name="Google Shape;97;p6"/>
          <p:cNvSpPr/>
          <p:nvPr/>
        </p:nvSpPr>
        <p:spPr>
          <a:xfrm>
            <a:off x="6235074" y="1287192"/>
            <a:ext cx="560992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ISSUES / BLOCKERS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8" name="Google Shape;98;p6"/>
          <p:cNvGraphicFramePr/>
          <p:nvPr/>
        </p:nvGraphicFramePr>
        <p:xfrm>
          <a:off x="6235074" y="174439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{B8D21E83-F182-41DF-A42D-6A1F09B24763}</a:tableStyleId>
              </a:tblPr>
              <a:tblGrid>
                <a:gridCol w="2315200"/>
                <a:gridCol w="979525"/>
                <a:gridCol w="23152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ISSUE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 / M / 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 / M / 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.............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" name="Google Shape;99;p6"/>
          <p:cNvSpPr/>
          <p:nvPr/>
        </p:nvSpPr>
        <p:spPr>
          <a:xfrm>
            <a:off x="358175" y="3380168"/>
            <a:ext cx="5610000" cy="13539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500484" y="3499540"/>
            <a:ext cx="18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INFERENCE / CONCLUSION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58166" y="4962635"/>
            <a:ext cx="1134615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NEXT WEEK / FUTURE PLAN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2" name="Google Shape;102;p6"/>
          <p:cNvCxnSpPr/>
          <p:nvPr/>
        </p:nvCxnSpPr>
        <p:spPr>
          <a:xfrm>
            <a:off x="360000" y="5346683"/>
            <a:ext cx="11484996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6"/>
          <p:cNvSpPr/>
          <p:nvPr/>
        </p:nvSpPr>
        <p:spPr>
          <a:xfrm>
            <a:off x="338511" y="5419835"/>
            <a:ext cx="6036373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 1 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 2 ..............................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204451" y="5419835"/>
            <a:ext cx="564054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 3 ...........................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Action 4 (max) .................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235075" y="3380155"/>
            <a:ext cx="5610000" cy="13539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EFEF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374884" y="3499540"/>
            <a:ext cx="235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ANY UNPLANNED WORK DONE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6"/>
          <p:cNvCxnSpPr/>
          <p:nvPr/>
        </p:nvCxnSpPr>
        <p:spPr>
          <a:xfrm flipH="1" rot="10800000">
            <a:off x="6214517" y="1652952"/>
            <a:ext cx="5661300" cy="8100"/>
          </a:xfrm>
          <a:prstGeom prst="straightConnector1">
            <a:avLst/>
          </a:prstGeom>
          <a:noFill/>
          <a:ln cap="flat" cmpd="sng" w="1270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"/>
          <p:cNvSpPr/>
          <p:nvPr/>
        </p:nvSpPr>
        <p:spPr>
          <a:xfrm>
            <a:off x="347241" y="658375"/>
            <a:ext cx="16396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347241" y="3519650"/>
            <a:ext cx="1639659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APPENDICES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7"/>
          <p:cNvCxnSpPr/>
          <p:nvPr/>
        </p:nvCxnSpPr>
        <p:spPr>
          <a:xfrm>
            <a:off x="360000" y="1138755"/>
            <a:ext cx="11520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7"/>
          <p:cNvCxnSpPr/>
          <p:nvPr/>
        </p:nvCxnSpPr>
        <p:spPr>
          <a:xfrm>
            <a:off x="360000" y="4021454"/>
            <a:ext cx="11520000" cy="0"/>
          </a:xfrm>
          <a:prstGeom prst="straightConnector1">
            <a:avLst/>
          </a:prstGeom>
          <a:noFill/>
          <a:ln cap="flat" cmpd="sng" w="12700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7"/>
          <p:cNvSpPr/>
          <p:nvPr/>
        </p:nvSpPr>
        <p:spPr>
          <a:xfrm>
            <a:off x="347241" y="237063"/>
            <a:ext cx="574875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SLIDE </a:t>
            </a: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12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-US" sz="12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REFERENCES &amp; APPENDICES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